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A68FC1B-662A-47FD-8E89-176F73B93DF0}">
  <a:tblStyle styleId="{6A68FC1B-662A-47FD-8E89-176F73B93DF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346041F7-EE3D-4398-980B-4D8C935A052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58b6e1af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d58b6e1af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24a261ce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e24a261ce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24a261ce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e24a261ce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21e7ff245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21e7ff245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21e7ff24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21e7ff24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58b6e1af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58b6e1af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58b6e1aff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d58b6e1aff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5781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Fine-tuning QLoRA dan Evaluasi Model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922700" y="4237550"/>
            <a:ext cx="5298600" cy="4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/>
              <a:t>Kelompok 18</a:t>
            </a:r>
            <a:endParaRPr sz="1800"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90125" y="2965838"/>
            <a:ext cx="8520600" cy="9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id" sz="2000"/>
              <a:t>Yizreel Schwartz Sipahutar (11S22038)</a:t>
            </a:r>
            <a:br>
              <a:rPr lang="id" sz="2000"/>
            </a:br>
            <a:r>
              <a:rPr lang="id" sz="2000"/>
              <a:t>Jonathan Martinus Pangaribuan (11S22013)</a:t>
            </a:r>
            <a:br>
              <a:rPr lang="id" sz="2000"/>
            </a:br>
            <a:r>
              <a:rPr lang="id" sz="2000"/>
              <a:t>Joshua Asido Prima Silalahi (11S23033)</a:t>
            </a:r>
            <a:br>
              <a:rPr lang="id" sz="2000"/>
            </a:br>
            <a:endParaRPr sz="2000"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1922700" y="302500"/>
            <a:ext cx="5298600" cy="4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/>
              <a:t>Aktivitas Minggu 12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19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Progress Pengerjaan</a:t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311700" y="668575"/>
            <a:ext cx="617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</a:rPr>
              <a:t>Melakukan fine-tuning QLoRA pada model hasil pruning 10%.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50" y="1013025"/>
            <a:ext cx="4926051" cy="136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350" y="2378875"/>
            <a:ext cx="3578626" cy="2659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01976" y="2378875"/>
            <a:ext cx="4837224" cy="2382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19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Progress Pengerjaan</a:t>
            </a:r>
            <a:endParaRPr/>
          </a:p>
        </p:txBody>
      </p:sp>
      <p:sp>
        <p:nvSpPr>
          <p:cNvPr id="72" name="Google Shape;72;p15"/>
          <p:cNvSpPr txBox="1"/>
          <p:nvPr/>
        </p:nvSpPr>
        <p:spPr>
          <a:xfrm>
            <a:off x="311700" y="668575"/>
            <a:ext cx="617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</a:rPr>
              <a:t>Melakukan fine-tuning QLoRA pada model hasil pruning 20%.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950" y="1001475"/>
            <a:ext cx="4310550" cy="2322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 rotWithShape="1">
          <a:blip r:embed="rId4">
            <a:alphaModFix/>
          </a:blip>
          <a:srcRect b="0" l="0" r="0" t="10322"/>
          <a:stretch/>
        </p:blipFill>
        <p:spPr>
          <a:xfrm>
            <a:off x="388950" y="2274550"/>
            <a:ext cx="3619101" cy="2662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5375" y="1795575"/>
            <a:ext cx="4621100" cy="222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19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Progress Pengerjaan</a:t>
            </a:r>
            <a:endParaRPr/>
          </a:p>
        </p:txBody>
      </p:sp>
      <p:sp>
        <p:nvSpPr>
          <p:cNvPr id="81" name="Google Shape;81;p16"/>
          <p:cNvSpPr txBox="1"/>
          <p:nvPr/>
        </p:nvSpPr>
        <p:spPr>
          <a:xfrm>
            <a:off x="311700" y="668575"/>
            <a:ext cx="617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</a:rPr>
              <a:t>Melakukan fine-tuning QLoRA pada model hasil pruning 30%.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225" y="1037875"/>
            <a:ext cx="5456275" cy="166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225" y="2334800"/>
            <a:ext cx="3505849" cy="2676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87524" y="2571750"/>
            <a:ext cx="4339849" cy="21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19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Progress Pengerjaan</a:t>
            </a:r>
            <a:endParaRPr/>
          </a:p>
        </p:txBody>
      </p:sp>
      <p:sp>
        <p:nvSpPr>
          <p:cNvPr id="90" name="Google Shape;90;p17"/>
          <p:cNvSpPr txBox="1"/>
          <p:nvPr/>
        </p:nvSpPr>
        <p:spPr>
          <a:xfrm>
            <a:off x="311700" y="668575"/>
            <a:ext cx="617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</a:rPr>
              <a:t>Mengevaluasi kualitas rekomendasi menggunakan NDCG@10, Recall@10, Hit Rate@10, Precision@10, dan Parse Success Rate.</a:t>
            </a:r>
            <a:endParaRPr sz="1200">
              <a:solidFill>
                <a:schemeClr val="dk1"/>
              </a:solidFill>
            </a:endParaRPr>
          </a:p>
        </p:txBody>
      </p:sp>
      <p:graphicFrame>
        <p:nvGraphicFramePr>
          <p:cNvPr id="91" name="Google Shape;91;p17"/>
          <p:cNvGraphicFramePr/>
          <p:nvPr/>
        </p:nvGraphicFramePr>
        <p:xfrm>
          <a:off x="427975" y="1222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{6A68FC1B-662A-47FD-8E89-176F73B93DF0}</a:tableStyleId>
              </a:tblPr>
              <a:tblGrid>
                <a:gridCol w="1240050"/>
                <a:gridCol w="1138550"/>
                <a:gridCol w="1138550"/>
                <a:gridCol w="1138550"/>
                <a:gridCol w="1138550"/>
                <a:gridCol w="1138550"/>
                <a:gridCol w="1138550"/>
              </a:tblGrid>
              <a:tr h="4539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Model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NDCG@10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Recall@10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Hit Rate@10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Precision@10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Parse Success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Latency (s)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Base_14B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0.8409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0.9776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1.0000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0.7837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1.0000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6.4200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Pruned_10P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0.8195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0.9724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1.0000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0.7816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0.9600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6.4700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Pruned_20P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0.8180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0.9714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1.0000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0.7837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0.8200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6.3200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Pruned_30P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0.8159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0.9643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1.0000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0.7816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0.6600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6.2000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Pruned_10P_FT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0.8170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0.9837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1.0000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0.7918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0.9800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3.4200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Pruned_20P_FT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0.8321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0.9681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1.0000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0.7837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0.7600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3.6300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Pruned_30P_FT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0.7918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0.9646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1.0000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0.7796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0.4000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5.5400</a:t>
                      </a:r>
                      <a:endParaRPr sz="9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19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Progress Pengerjaan</a:t>
            </a:r>
            <a:endParaRPr/>
          </a:p>
        </p:txBody>
      </p:sp>
      <p:sp>
        <p:nvSpPr>
          <p:cNvPr id="97" name="Google Shape;97;p18"/>
          <p:cNvSpPr txBox="1"/>
          <p:nvPr/>
        </p:nvSpPr>
        <p:spPr>
          <a:xfrm>
            <a:off x="311700" y="668575"/>
            <a:ext cx="617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</a:rPr>
              <a:t>Menyusun BAB 4.1.1 dan 4.1.2 berdasarkan hasil efisiensi komputasi dan kualitas rekomendasi.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825" y="1244475"/>
            <a:ext cx="4505325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9950" y="1244475"/>
            <a:ext cx="3963850" cy="356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Logbook Minggu 12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100"/>
              <a:t>Catatan Kegiatan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id" sz="1200"/>
            </a:br>
            <a:endParaRPr sz="1200"/>
          </a:p>
        </p:txBody>
      </p:sp>
      <p:graphicFrame>
        <p:nvGraphicFramePr>
          <p:cNvPr id="106" name="Google Shape;106;p19"/>
          <p:cNvGraphicFramePr/>
          <p:nvPr/>
        </p:nvGraphicFramePr>
        <p:xfrm>
          <a:off x="434700" y="2660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{346041F7-EE3D-4398-980B-4D8C935A052C}</a:tableStyleId>
              </a:tblPr>
              <a:tblGrid>
                <a:gridCol w="382850"/>
                <a:gridCol w="827225"/>
                <a:gridCol w="3455725"/>
                <a:gridCol w="806575"/>
                <a:gridCol w="836375"/>
                <a:gridCol w="965850"/>
                <a:gridCol w="1039825"/>
              </a:tblGrid>
              <a:tr h="71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No</a:t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Tanggal Pelaksanaan</a:t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Kegiatan</a:t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Capaian (%) </a:t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Waktu Pelaksanaan (Menit)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Berkas</a:t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Validasi Dosen</a:t>
                      </a:r>
                      <a:endParaRPr sz="8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1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20-04-2026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Melakukan fine-tuning QLoRA pada model hasil pruning 10%.</a:t>
                      </a:r>
                      <a:endParaRPr i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/>
                        <a:t>68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210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Log Pruned_10P_FT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2</a:t>
                      </a:r>
                      <a:endParaRPr sz="8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21-04-2026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Melakukan fine-tuning QLoRA pada model hasil pruning 20%.</a:t>
                      </a:r>
                      <a:endParaRPr sz="8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/>
                        <a:t>72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210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Log Pruned_20P_FT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3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22-04-2026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Melakukan fine-tuning QLoRA pada model hasil pruning 30%.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/>
                        <a:t>76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210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Log Pruned_30P_FT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07" name="Google Shape;107;p19"/>
          <p:cNvGraphicFramePr/>
          <p:nvPr/>
        </p:nvGraphicFramePr>
        <p:xfrm>
          <a:off x="434750" y="136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{346041F7-EE3D-4398-980B-4D8C935A052C}</a:tableStyleId>
              </a:tblPr>
              <a:tblGrid>
                <a:gridCol w="1385725"/>
                <a:gridCol w="1385725"/>
                <a:gridCol w="1385725"/>
                <a:gridCol w="1385725"/>
                <a:gridCol w="1385725"/>
                <a:gridCol w="13857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Judul</a:t>
                      </a:r>
                      <a:endParaRPr sz="800"/>
                    </a:p>
                  </a:txBody>
                  <a:tcPr marT="91425" marB="91425" marR="91425" marL="91425"/>
                </a:tc>
                <a:tc gridSpan="5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OPTIMALISASI LARGE LANGUAGE MODEL DENGAN METODE STRUCTURED PRUNING DAN KUANTISASI UNTUK MENINGKATKAN EFISIENSI SISTEM REKOMENDASI PARIWISATA DANAU TOBA</a:t>
                      </a:r>
                      <a:endParaRPr sz="800"/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Skema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Tahun 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Dana Disetujui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Capaian (%)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Total Waktu (Menit)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Rekomendasi SKS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PKM-RE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2026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7.200.000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85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1050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273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Logbook Minggu 12</a:t>
            </a:r>
            <a:endParaRPr/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311675" y="795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100"/>
              <a:t>Catatan Kegiatan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id" sz="1200"/>
            </a:br>
            <a:endParaRPr sz="1200"/>
          </a:p>
        </p:txBody>
      </p:sp>
      <p:graphicFrame>
        <p:nvGraphicFramePr>
          <p:cNvPr id="114" name="Google Shape;114;p20"/>
          <p:cNvGraphicFramePr/>
          <p:nvPr/>
        </p:nvGraphicFramePr>
        <p:xfrm>
          <a:off x="414750" y="111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{346041F7-EE3D-4398-980B-4D8C935A052C}</a:tableStyleId>
              </a:tblPr>
              <a:tblGrid>
                <a:gridCol w="382850"/>
                <a:gridCol w="836725"/>
                <a:gridCol w="3435000"/>
                <a:gridCol w="725350"/>
                <a:gridCol w="836375"/>
                <a:gridCol w="910350"/>
                <a:gridCol w="1187775"/>
              </a:tblGrid>
              <a:tr h="71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No</a:t>
                      </a:r>
                      <a:endParaRPr sz="8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Tanggal Pelaksanaan</a:t>
                      </a:r>
                      <a:endParaRPr sz="8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Kegiatan</a:t>
                      </a:r>
                      <a:endParaRPr sz="8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Capaian 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(%) </a:t>
                      </a:r>
                      <a:endParaRPr sz="8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Waktu Pelaksanaan (Menit)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Berkas</a:t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Validasi Dosen</a:t>
                      </a:r>
                      <a:endParaRPr sz="8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4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23-04-2026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Mengevaluasi kualitas rekomendasi menggunakan NDCG@10, Recall@10, Hit Rate@10, Precision@10, dan Parse Success Rate.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80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240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Tabel evaluasi kualitas rekomendasi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5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23-04-2026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Menyusun BAB 4.1.1 dan 4.1.2 berdasarkan hasil efisiensi komputasi dan kualitas rekomendasi.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84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180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Draft BAB 4.1.1 dan 4.1.2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