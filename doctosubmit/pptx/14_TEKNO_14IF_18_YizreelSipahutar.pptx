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F016B18-959F-431D-B2CA-E94016E06BAD}">
  <a:tblStyle styleId="{9F016B18-959F-431D-B2CA-E94016E06BA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d58b6e1aff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d58b6e1af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24a261ce6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e24a261ce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24a261ce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e24a261ce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21e7ff245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e21e7ff245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24c15054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24c15054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21e7ff245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e21e7ff245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58b6e1aff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d58b6e1af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58b6e1aff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d58b6e1aff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5781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Finalisasi Laporan dan Lampiran 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1922700" y="4237550"/>
            <a:ext cx="5298600" cy="4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/>
              <a:t>Kelompok 18</a:t>
            </a:r>
            <a:endParaRPr sz="1800"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90125" y="2965838"/>
            <a:ext cx="8520600" cy="9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id" sz="2000"/>
              <a:t>Yizreel Schwartz Sipahutar (11S22038)</a:t>
            </a:r>
            <a:br>
              <a:rPr lang="id" sz="2000"/>
            </a:br>
            <a:r>
              <a:rPr lang="id" sz="2000"/>
              <a:t>Jonathan Martinus Pangaribuan (11S22013)</a:t>
            </a:r>
            <a:br>
              <a:rPr lang="id" sz="2000"/>
            </a:br>
            <a:r>
              <a:rPr lang="id" sz="2000"/>
              <a:t>Joshua Asido Prima Silalahi (11S23033)</a:t>
            </a:r>
            <a:br>
              <a:rPr lang="id" sz="2000"/>
            </a:br>
            <a:endParaRPr sz="2000"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1922700" y="302500"/>
            <a:ext cx="5298600" cy="4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/>
              <a:t>Aktivitas Minggu 14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197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Progress Pengerjaan</a:t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311700" y="668575"/>
            <a:ext cx="6173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</a:rPr>
              <a:t>Menyusun Ringkasan, memperbaiki BAB 1, dan memastikan tujuan penelitian sesuai dengan kesimpulan.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425" y="1189900"/>
            <a:ext cx="2796450" cy="3700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7875" y="1293000"/>
            <a:ext cx="2941875" cy="355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69749" y="1292999"/>
            <a:ext cx="2632175" cy="107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197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Progress Pengerjaan</a:t>
            </a:r>
            <a:endParaRPr/>
          </a:p>
        </p:txBody>
      </p:sp>
      <p:sp>
        <p:nvSpPr>
          <p:cNvPr id="72" name="Google Shape;72;p15"/>
          <p:cNvSpPr txBox="1"/>
          <p:nvPr/>
        </p:nvSpPr>
        <p:spPr>
          <a:xfrm>
            <a:off x="311700" y="668575"/>
            <a:ext cx="6173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</a:rPr>
              <a:t>Merapikan BAB 2 dan BAB 3, termasuk istilah teknis, tabel rancangan eksperimen, dan metode evaluasi.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300" y="1183300"/>
            <a:ext cx="2496800" cy="381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69625" y="1183300"/>
            <a:ext cx="2760405" cy="3815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70280" y="1222675"/>
            <a:ext cx="3009170" cy="2959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197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Progress Pengerjaan</a:t>
            </a:r>
            <a:endParaRPr/>
          </a:p>
        </p:txBody>
      </p:sp>
      <p:sp>
        <p:nvSpPr>
          <p:cNvPr id="81" name="Google Shape;81;p16"/>
          <p:cNvSpPr txBox="1"/>
          <p:nvPr/>
        </p:nvSpPr>
        <p:spPr>
          <a:xfrm>
            <a:off x="311700" y="668575"/>
            <a:ext cx="6173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</a:rPr>
              <a:t>Merapikan BAB 4 dan BAB 5, termasuk tabel hasil, grafik trade-off, kesimpulan, dan saran.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350" y="1222675"/>
            <a:ext cx="2551866" cy="3616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29625" y="1162800"/>
            <a:ext cx="2673800" cy="376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09650" y="1162800"/>
            <a:ext cx="2507975" cy="3795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197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Progress Pengerjaan</a:t>
            </a:r>
            <a:endParaRPr/>
          </a:p>
        </p:txBody>
      </p:sp>
      <p:sp>
        <p:nvSpPr>
          <p:cNvPr id="90" name="Google Shape;90;p17"/>
          <p:cNvSpPr txBox="1"/>
          <p:nvPr/>
        </p:nvSpPr>
        <p:spPr>
          <a:xfrm>
            <a:off x="311700" y="668575"/>
            <a:ext cx="6173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</a:rPr>
              <a:t>Melengkapi Lampiran 1 penggunaan dana, Lampiran 2 bukti kegiatan, dan Lampiran 3 BMC.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91" name="Google Shape;9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175" y="1246950"/>
            <a:ext cx="2800225" cy="371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7400" y="1296650"/>
            <a:ext cx="5575369" cy="361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197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Progress Pengerjaan</a:t>
            </a:r>
            <a:endParaRPr/>
          </a:p>
        </p:txBody>
      </p:sp>
      <p:sp>
        <p:nvSpPr>
          <p:cNvPr id="98" name="Google Shape;98;p18"/>
          <p:cNvSpPr txBox="1"/>
          <p:nvPr/>
        </p:nvSpPr>
        <p:spPr>
          <a:xfrm>
            <a:off x="311700" y="668575"/>
            <a:ext cx="6173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</a:rPr>
              <a:t>(Cont’d) </a:t>
            </a:r>
            <a:r>
              <a:rPr lang="id" sz="1200">
                <a:solidFill>
                  <a:schemeClr val="dk1"/>
                </a:solidFill>
              </a:rPr>
              <a:t>Melengkapi Lampiran 1 penggunaan dana, Lampiran 2 bukti kegiatan, dan Lampiran 3 BMC.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99" name="Google Shape;99;p18" title="Business Model Canva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150" y="1168850"/>
            <a:ext cx="4751750" cy="3739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197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Progress Pengerjaan</a:t>
            </a:r>
            <a:endParaRPr/>
          </a:p>
        </p:txBody>
      </p:sp>
      <p:sp>
        <p:nvSpPr>
          <p:cNvPr id="105" name="Google Shape;105;p19"/>
          <p:cNvSpPr txBox="1"/>
          <p:nvPr/>
        </p:nvSpPr>
        <p:spPr>
          <a:xfrm>
            <a:off x="311700" y="668575"/>
            <a:ext cx="6173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</a:rPr>
              <a:t>Melengkapi logbook, daftar lampiran, daftar tabel/gambar, dan melakukan pemeriksaan akhir format laporan.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06" name="Google Shape;10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200" y="1222675"/>
            <a:ext cx="2606175" cy="374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38175" y="1259825"/>
            <a:ext cx="3408026" cy="278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22275" y="2355674"/>
            <a:ext cx="3099450" cy="71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9"/>
          <p:cNvPicPr preferRelativeResize="0"/>
          <p:nvPr/>
        </p:nvPicPr>
        <p:blipFill rotWithShape="1">
          <a:blip r:embed="rId6">
            <a:alphaModFix/>
          </a:blip>
          <a:srcRect b="8139" l="0" r="1797" t="0"/>
          <a:stretch/>
        </p:blipFill>
        <p:spPr>
          <a:xfrm>
            <a:off x="2964800" y="3152475"/>
            <a:ext cx="3281400" cy="756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Logbook Minggu 14</a:t>
            </a:r>
            <a:endParaRPr/>
          </a:p>
        </p:txBody>
      </p:sp>
      <p:sp>
        <p:nvSpPr>
          <p:cNvPr id="115" name="Google Shape;115;p20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100"/>
              <a:t>Catatan Kegiatan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br>
              <a:rPr lang="id" sz="1200"/>
            </a:br>
            <a:endParaRPr sz="1200"/>
          </a:p>
        </p:txBody>
      </p:sp>
      <p:graphicFrame>
        <p:nvGraphicFramePr>
          <p:cNvPr id="116" name="Google Shape;116;p20"/>
          <p:cNvGraphicFramePr/>
          <p:nvPr/>
        </p:nvGraphicFramePr>
        <p:xfrm>
          <a:off x="434700" y="2660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{9F016B18-959F-431D-B2CA-E94016E06BAD}</a:tableStyleId>
              </a:tblPr>
              <a:tblGrid>
                <a:gridCol w="382850"/>
                <a:gridCol w="827225"/>
                <a:gridCol w="3455725"/>
                <a:gridCol w="806575"/>
                <a:gridCol w="836375"/>
                <a:gridCol w="965850"/>
                <a:gridCol w="1039825"/>
              </a:tblGrid>
              <a:tr h="71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No</a:t>
                      </a:r>
                      <a:endParaRPr sz="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Tanggal Pelaksanaan</a:t>
                      </a:r>
                      <a:endParaRPr sz="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Kegiatan</a:t>
                      </a:r>
                      <a:endParaRPr sz="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Capaian (%) </a:t>
                      </a:r>
                      <a:endParaRPr sz="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Waktu Pelaksanaan (Menit)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Berkas</a:t>
                      </a:r>
                      <a:endParaRPr sz="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Validasi Dosen</a:t>
                      </a:r>
                      <a:endParaRPr sz="800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1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04-05-2026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Menyusun Ringkasan, memperbaiki BAB 1, dan memastikan tujuan penelitian sesuai dengan kesimpulan.</a:t>
                      </a:r>
                      <a:endParaRPr i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/>
                        <a:t>95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180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Ringkasan, BAB 1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2</a:t>
                      </a:r>
                      <a:endParaRPr sz="8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05-05-2026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Merapikan BAB 2 dan BAB 3, termasuk istilah teknis, tabel rancangan eksperimen, dan metode evaluasi.</a:t>
                      </a:r>
                      <a:endParaRPr sz="8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/>
                        <a:t>96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180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BAB 2 dan BAB 3 revisi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3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06-05-2026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Merapikan BAB 4 dan BAB 5, termasuk tabel hasil, grafik trade-off, kesimpulan, dan saran.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/>
                        <a:t>97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210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BAB 4 dan BAB 5 final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17" name="Google Shape;117;p20"/>
          <p:cNvGraphicFramePr/>
          <p:nvPr/>
        </p:nvGraphicFramePr>
        <p:xfrm>
          <a:off x="434750" y="1362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{9F016B18-959F-431D-B2CA-E94016E06BAD}</a:tableStyleId>
              </a:tblPr>
              <a:tblGrid>
                <a:gridCol w="1385725"/>
                <a:gridCol w="1385725"/>
                <a:gridCol w="1385725"/>
                <a:gridCol w="1385725"/>
                <a:gridCol w="1385725"/>
                <a:gridCol w="13857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Judul</a:t>
                      </a:r>
                      <a:endParaRPr sz="800"/>
                    </a:p>
                  </a:txBody>
                  <a:tcPr marT="91425" marB="91425" marR="91425" marL="91425"/>
                </a:tc>
                <a:tc gridSpan="5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OPTIMALISASI LARGE LANGUAGE MODEL DENGAN METODE STRUCTURED PRUNING DAN KUANTISASI UNTUK MENINGKATKAN EFISIENSI SISTEM REKOMENDASI PARIWISATA DANAU TOBA</a:t>
                      </a:r>
                      <a:endParaRPr sz="800"/>
                    </a:p>
                  </a:txBody>
                  <a:tcPr marT="91425" marB="91425" marR="91425" marL="91425"/>
                </a:tc>
                <a:tc hMerge="1"/>
                <a:tc hMerge="1"/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Skema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Tahun 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Dana Disetujui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Capaian (%)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Total Waktu (Menit)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Rekomendasi SKS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PKM-RE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2026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7.200.000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100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1020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311700" y="273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Logbook Minggu 14</a:t>
            </a:r>
            <a:endParaRPr/>
          </a:p>
        </p:txBody>
      </p:sp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311675" y="795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100"/>
              <a:t>Catatan Kegiatan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br>
              <a:rPr lang="id" sz="1200"/>
            </a:br>
            <a:endParaRPr sz="1200"/>
          </a:p>
        </p:txBody>
      </p:sp>
      <p:graphicFrame>
        <p:nvGraphicFramePr>
          <p:cNvPr id="124" name="Google Shape;124;p21"/>
          <p:cNvGraphicFramePr/>
          <p:nvPr/>
        </p:nvGraphicFramePr>
        <p:xfrm>
          <a:off x="414750" y="111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{9F016B18-959F-431D-B2CA-E94016E06BAD}</a:tableStyleId>
              </a:tblPr>
              <a:tblGrid>
                <a:gridCol w="382850"/>
                <a:gridCol w="836725"/>
                <a:gridCol w="3435000"/>
                <a:gridCol w="725350"/>
                <a:gridCol w="836375"/>
                <a:gridCol w="910350"/>
                <a:gridCol w="1187775"/>
              </a:tblGrid>
              <a:tr h="71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No</a:t>
                      </a:r>
                      <a:endParaRPr sz="8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Tanggal Pelaksanaan</a:t>
                      </a:r>
                      <a:endParaRPr sz="8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Kegiatan</a:t>
                      </a:r>
                      <a:endParaRPr sz="8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Capaian 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(%) </a:t>
                      </a:r>
                      <a:endParaRPr sz="8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Waktu Pelaksanaan (Menit)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Berkas</a:t>
                      </a:r>
                      <a:endParaRPr sz="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Validasi Dosen</a:t>
                      </a:r>
                      <a:endParaRPr sz="800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4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30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-04-2026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Melengkapi Lampiran 1 penggunaan dana, Lampiran 2 bukti kegiatan, dan Lampiran 3 BMC.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98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210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Lampiran 1–3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5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01-05-2026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Melengkapi logbook, daftar lampiran, daftar tabel/gambar, dan melakukan pemeriksaan akhir format laporan.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100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240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Laporan akhir final PDF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