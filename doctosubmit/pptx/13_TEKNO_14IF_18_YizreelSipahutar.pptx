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E308D0D-FB04-4B91-987F-08C890DFEC30}">
  <a:tblStyle styleId="{FE308D0D-FB04-4B91-987F-08C890DFEC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58b6e1a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58b6e1a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e24a261ce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e24a261ce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24a261ce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24a261ce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21e7ff24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21e7ff24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21e7ff24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21e7ff24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24c0a587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24c0a587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58b6e1af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d58b6e1af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58b6e1af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58b6e1af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jpg"/><Relationship Id="rId4" Type="http://schemas.openxmlformats.org/officeDocument/2006/relationships/hyperlink" Target="https://miro.com/app/board/uXjVHTVRGhk=/?share_link_id=30052723993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78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Fine-tuning QLoRA dan Evaluasi Model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922700" y="4237550"/>
            <a:ext cx="5298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Kelompok 18</a:t>
            </a:r>
            <a:endParaRPr sz="18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90125" y="2965838"/>
            <a:ext cx="8520600" cy="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id" sz="2000"/>
              <a:t>Yizreel Schwartz Sipahutar (11S22038)</a:t>
            </a:r>
            <a:br>
              <a:rPr lang="id" sz="2000"/>
            </a:br>
            <a:r>
              <a:rPr lang="id" sz="2000"/>
              <a:t>Jonathan Martinus Pangaribuan (11S22013)</a:t>
            </a:r>
            <a:br>
              <a:rPr lang="id" sz="2000"/>
            </a:br>
            <a:r>
              <a:rPr lang="id" sz="2000"/>
              <a:t>Joshua Asido Prima Silalahi (11S23033)</a:t>
            </a:r>
            <a:br>
              <a:rPr lang="id" sz="2000"/>
            </a:br>
            <a:endParaRPr sz="20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922700" y="302500"/>
            <a:ext cx="5298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Aktivitas Minggu 13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668575"/>
            <a:ext cx="617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Mengolah hasil evaluasi untuk membuat analisis trade-off antara NDCG@10, latency, dan Peak VRAM.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00" y="1195950"/>
            <a:ext cx="6251526" cy="198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 rotWithShape="1">
          <a:blip r:embed="rId4">
            <a:alphaModFix/>
          </a:blip>
          <a:srcRect b="0" l="666" r="0" t="5776"/>
          <a:stretch/>
        </p:blipFill>
        <p:spPr>
          <a:xfrm>
            <a:off x="413200" y="3288675"/>
            <a:ext cx="8162127" cy="81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850" y="4161300"/>
            <a:ext cx="8192476" cy="90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Membuat grafik trade-off NDCG@10 terhadap latency dan NDCG@10 terhadap Peak VRAM.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3" name="Google Shape;73;p15" title="pareto_4_ndcg_vs_vram_cle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7250" y="1289375"/>
            <a:ext cx="3580866" cy="3132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pareto_latency_clea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874" y="1222678"/>
            <a:ext cx="4176124" cy="3132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311700" y="668575"/>
            <a:ext cx="617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Melakukan fine-tuning QLoRA pada model hasil pruning 30%.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225" y="1037875"/>
            <a:ext cx="5456275" cy="166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225" y="2334800"/>
            <a:ext cx="3505849" cy="2676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87524" y="2571750"/>
            <a:ext cx="4339849" cy="21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Menentukan konfigurasi terbaik berdasarkan keseimbangan efisiensi komputasi dan kualitas rekomendasi.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500" y="2181775"/>
            <a:ext cx="4280224" cy="141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0600" y="1332625"/>
            <a:ext cx="3951800" cy="298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97" name="Google Shape;97;p18"/>
          <p:cNvSpPr txBox="1"/>
          <p:nvPr/>
        </p:nvSpPr>
        <p:spPr>
          <a:xfrm>
            <a:off x="311700" y="668575"/>
            <a:ext cx="6173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Menyusun potensi khusus hasil penelitian dan peluang pengembangan sistem rekomendasi.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500" y="1329400"/>
            <a:ext cx="5610950" cy="281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311700" y="668575"/>
            <a:ext cx="617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Merevisi BMC berdasarkan hasil penelitian dan potensi penerapan sistem rekomendasi.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5" name="Google Shape;105;p19" title="Business Model Canva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000" y="1068975"/>
            <a:ext cx="5040548" cy="396655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 txBox="1"/>
          <p:nvPr/>
        </p:nvSpPr>
        <p:spPr>
          <a:xfrm>
            <a:off x="5592325" y="1068975"/>
            <a:ext cx="314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https://miro.com/app/board/uXjVHTVRGhk=/?share_link_id=30052723993</a:t>
            </a:r>
            <a:r>
              <a:rPr lang="id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Logbook Minggu 13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/>
              <a:t>Catatan Kegiatan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id" sz="1200"/>
            </a:br>
            <a:endParaRPr sz="1200"/>
          </a:p>
        </p:txBody>
      </p:sp>
      <p:graphicFrame>
        <p:nvGraphicFramePr>
          <p:cNvPr id="113" name="Google Shape;113;p20"/>
          <p:cNvGraphicFramePr/>
          <p:nvPr/>
        </p:nvGraphicFramePr>
        <p:xfrm>
          <a:off x="434700" y="266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{FE308D0D-FB04-4B91-987F-08C890DFEC30}</a:tableStyleId>
              </a:tblPr>
              <a:tblGrid>
                <a:gridCol w="382850"/>
                <a:gridCol w="827225"/>
                <a:gridCol w="3455725"/>
                <a:gridCol w="806575"/>
                <a:gridCol w="836375"/>
                <a:gridCol w="965850"/>
                <a:gridCol w="1039825"/>
              </a:tblGrid>
              <a:tr h="71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No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Tanggal Pelaksanaan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Kegiatan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Capaian (%) 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Waktu Pelaksanaan (Menit)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Berkas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Validasi Dosen</a:t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27-04-2026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Mengolah hasil evaluasi untuk membuat analisis trade-off antara NDCG@10, latency, dan Peak VRAM.</a:t>
                      </a:r>
                      <a:endParaRPr i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86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Data trade-off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28-04-2026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Membuat grafik trade-off NDCG@10 terhadap latency dan NDCG@10 terhadap Peak VRAM.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88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180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Kurva Pareto Trade-off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29-04-2026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Menentukan konfigurasi terbaik berdasarkan keseimbangan efisiensi komputasi dan kualitas rekomendasi.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90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180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Draft BAB 4.3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4" name="Google Shape;114;p20"/>
          <p:cNvGraphicFramePr/>
          <p:nvPr/>
        </p:nvGraphicFramePr>
        <p:xfrm>
          <a:off x="434750" y="136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{FE308D0D-FB04-4B91-987F-08C890DFEC30}</a:tableStyleId>
              </a:tblPr>
              <a:tblGrid>
                <a:gridCol w="1385725"/>
                <a:gridCol w="1385725"/>
                <a:gridCol w="1385725"/>
                <a:gridCol w="1385725"/>
                <a:gridCol w="1385725"/>
                <a:gridCol w="1385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Judul</a:t>
                      </a:r>
                      <a:endParaRPr sz="800"/>
                    </a:p>
                  </a:txBody>
                  <a:tcPr marT="91425" marB="91425" marR="91425" marL="91425"/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OPTIMALISASI LARGE LANGUAGE MODEL DENGAN METODE STRUCTURED PRUNING DAN KUANTISASI UNTUK MENINGKATKAN EFISIENSI SISTEM REKOMENDASI PARIWISATA DANAU TOBA</a:t>
                      </a:r>
                      <a:endParaRPr sz="8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Skema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Tahun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Dana Disetujui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Capaian (%)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Total Waktu (Menit)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Rekomendasi SKS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PKM-RE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2026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7.200.000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94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870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273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Logbook Minggu 13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675" y="795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/>
              <a:t>Catatan Kegiatan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id" sz="1200"/>
            </a:br>
            <a:endParaRPr sz="1200"/>
          </a:p>
        </p:txBody>
      </p:sp>
      <p:graphicFrame>
        <p:nvGraphicFramePr>
          <p:cNvPr id="121" name="Google Shape;121;p21"/>
          <p:cNvGraphicFramePr/>
          <p:nvPr/>
        </p:nvGraphicFramePr>
        <p:xfrm>
          <a:off x="414750" y="111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{FE308D0D-FB04-4B91-987F-08C890DFEC30}</a:tableStyleId>
              </a:tblPr>
              <a:tblGrid>
                <a:gridCol w="382850"/>
                <a:gridCol w="836725"/>
                <a:gridCol w="3435000"/>
                <a:gridCol w="725350"/>
                <a:gridCol w="836375"/>
                <a:gridCol w="910350"/>
                <a:gridCol w="1187775"/>
              </a:tblGrid>
              <a:tr h="71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No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Tanggal Pelaksanaan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Kegiatan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Capaian 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(%) 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Waktu Pelaksanaan (Menit)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Berkas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Validasi Dosen</a:t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30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-04-2026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Menyusun potensi khusus hasil penelitian dan peluang pengembangan sistem rekomendasi.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92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150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Draft BAB 4.4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5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01-05-2026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Merevisi BMC berdasarkan hasil penelitian dan potensi penerapan sistem rekomendasi.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94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150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BMC revisi, link Miro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