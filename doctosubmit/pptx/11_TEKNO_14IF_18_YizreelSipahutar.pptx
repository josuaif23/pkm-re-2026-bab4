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9B6CA4-9C01-4D26-BC94-7E39F64D36A0}">
  <a:tblStyle styleId="{5E9B6CA4-9C01-4D26-BC94-7E39F64D36A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58b6e1af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58b6e1af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21e7ff245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21e7ff245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21e7ff24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21e7ff24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21e7ff245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21e7ff245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21e7ff24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21e7ff24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d58b6e1af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d58b6e1af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58b6e1af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58b6e1af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d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57812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Implementasi Baseline Model dan Pruning 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1922700" y="423755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Kelompok 18</a:t>
            </a:r>
            <a:endParaRPr sz="1800"/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90125" y="2965838"/>
            <a:ext cx="8520600" cy="93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id" sz="2000"/>
              <a:t>Yizreel Schwartz Sipahutar (11S22038)</a:t>
            </a:r>
            <a:br>
              <a:rPr lang="id" sz="2000"/>
            </a:br>
            <a:r>
              <a:rPr lang="id" sz="2000"/>
              <a:t>Jonathan Martinus Pangaribuan (11S22013)</a:t>
            </a:r>
            <a:br>
              <a:rPr lang="id" sz="2000"/>
            </a:br>
            <a:r>
              <a:rPr lang="id" sz="2000"/>
              <a:t>Joshua Asido Prima Silalahi (11S23033)</a:t>
            </a:r>
            <a:br>
              <a:rPr lang="id" sz="2000"/>
            </a:br>
            <a:endParaRPr sz="2000"/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1922700" y="302500"/>
            <a:ext cx="5298600" cy="46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id" sz="1800"/>
              <a:t>Aktivitas Minggu 11</a:t>
            </a:r>
            <a:endParaRPr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Melakukan pengujian model baseline Qwen untuk memperoleh nilai awal VRAM, latency, TTFT, throughput, dan kualitas rekomendasi.</a:t>
            </a:r>
            <a:endParaRPr i="1" sz="1200">
              <a:solidFill>
                <a:schemeClr val="dk1"/>
              </a:solidFill>
            </a:endParaRPr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225" y="1284100"/>
            <a:ext cx="6873041" cy="36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8900" y="2547120"/>
            <a:ext cx="3935350" cy="1090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71" name="Google Shape;71;p15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Menjalankan Structured Pruning pada rasio 10% dan mencatat perubahan performa model.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075" y="1259850"/>
            <a:ext cx="4121321" cy="3616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22395" y="1259850"/>
            <a:ext cx="4265964" cy="36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90147" y="3786647"/>
            <a:ext cx="3900125" cy="1089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0" name="Google Shape;80;p16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Menjalankan Structured Pruning pada rasio 20% dan mencatat perubahan performa model.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81" name="Google Shape;81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50" y="1247700"/>
            <a:ext cx="5802019" cy="36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4925" y="1303450"/>
            <a:ext cx="4516724" cy="123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6926" y="2473876"/>
            <a:ext cx="4484725" cy="143966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89" name="Google Shape;89;p17"/>
          <p:cNvSpPr txBox="1"/>
          <p:nvPr/>
        </p:nvSpPr>
        <p:spPr>
          <a:xfrm>
            <a:off x="311700" y="668575"/>
            <a:ext cx="6173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Menjalankan Structured Pruning pada rasio 30% dan membandingkan hasil awal dengan baseline.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425" y="1253775"/>
            <a:ext cx="5269386" cy="361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8050" y="1253775"/>
            <a:ext cx="4362375" cy="12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8050" y="2447425"/>
            <a:ext cx="4330725" cy="130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973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Progress Pengerjaan</a:t>
            </a:r>
            <a:endParaRPr/>
          </a:p>
        </p:txBody>
      </p:sp>
      <p:sp>
        <p:nvSpPr>
          <p:cNvPr id="98" name="Google Shape;98;p18"/>
          <p:cNvSpPr txBox="1"/>
          <p:nvPr/>
        </p:nvSpPr>
        <p:spPr>
          <a:xfrm>
            <a:off x="311700" y="668575"/>
            <a:ext cx="617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200">
                <a:solidFill>
                  <a:schemeClr val="dk1"/>
                </a:solidFill>
              </a:rPr>
              <a:t>Menyusun tabel awal hasil pengujian efisiensi komputasi dan melengkapi BAB 3.5–3.7.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100" y="1135700"/>
            <a:ext cx="4338325" cy="262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 rotWithShape="1">
          <a:blip r:embed="rId4">
            <a:alphaModFix/>
          </a:blip>
          <a:srcRect b="0" l="0" r="5258" t="0"/>
          <a:stretch/>
        </p:blipFill>
        <p:spPr>
          <a:xfrm>
            <a:off x="4604450" y="1135700"/>
            <a:ext cx="4110375" cy="112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8400" y="2571750"/>
            <a:ext cx="5404324" cy="8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11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08" name="Google Shape;108;p19"/>
          <p:cNvGraphicFramePr/>
          <p:nvPr/>
        </p:nvGraphicFramePr>
        <p:xfrm>
          <a:off x="434700" y="266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{5E9B6CA4-9C01-4D26-BC94-7E39F64D36A0}</a:tableStyleId>
              </a:tblPr>
              <a:tblGrid>
                <a:gridCol w="382850"/>
                <a:gridCol w="827225"/>
                <a:gridCol w="3455725"/>
                <a:gridCol w="806575"/>
                <a:gridCol w="836375"/>
                <a:gridCol w="965850"/>
                <a:gridCol w="103982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(%) 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13-04-2026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Melakukan pengujian model baseline Qwen untuk memperoleh nilai awal VRAM, latency, TTFT, throughput, dan kualitas rekomendasi.</a:t>
                      </a:r>
                      <a:endParaRPr i="1"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45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baseline, hasil awal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14-04-2026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Menjalankan Structured Pruning pada rasio 10% dan mencatat perubahan performa model.</a:t>
                      </a:r>
                      <a:endParaRPr sz="800"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50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Pruned_10P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3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15-04-2026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Menjalankan Structured Pruning pada rasio 20% dan mencatat perubahan performa model.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/>
                        <a:t>55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210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Pruned_20P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09" name="Google Shape;109;p19"/>
          <p:cNvGraphicFramePr/>
          <p:nvPr/>
        </p:nvGraphicFramePr>
        <p:xfrm>
          <a:off x="434750" y="136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{5E9B6CA4-9C01-4D26-BC94-7E39F64D36A0}</a:tableStyleId>
              </a:tblPr>
              <a:tblGrid>
                <a:gridCol w="1385725"/>
                <a:gridCol w="1385725"/>
                <a:gridCol w="1385725"/>
                <a:gridCol w="1385725"/>
                <a:gridCol w="1385725"/>
                <a:gridCol w="13857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Judul</a:t>
                      </a:r>
                      <a:endParaRPr sz="800"/>
                    </a:p>
                  </a:txBody>
                  <a:tcPr marT="91425" marB="91425" marR="91425" marL="91425"/>
                </a:tc>
                <a:tc gridSpan="5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OPTIMALISASI LARGE LANGUAGE MODEL DENGAN METODE STRUCTURED PRUNING DAN KUANTISASI UNTUK MENINGKATKAN EFISIENSI SISTEM REKOMENDASI PARIWISATA DANAU TOBA</a:t>
                      </a:r>
                      <a:endParaRPr sz="800"/>
                    </a:p>
                  </a:txBody>
                  <a:tcPr marT="91425" marB="91425" marR="91425" marL="91425"/>
                </a:tc>
                <a:tc hMerge="1"/>
                <a:tc hMerge="1"/>
                <a:tc hMerge="1"/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Skema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Tahun 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Dana Disetujui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Capaian (%)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Total Waktu (Menit)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Rekomendasi SKS</a:t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PKM-RE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2026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7.200.000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65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1020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311700" y="2738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/>
              <a:t>Logbook Minggu 11</a:t>
            </a:r>
            <a:endParaRPr/>
          </a:p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311675" y="795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d" sz="1100"/>
              <a:t>Catatan Kegiatan</a:t>
            </a:r>
            <a:endParaRPr sz="11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br>
              <a:rPr lang="id" sz="1200"/>
            </a:br>
            <a:endParaRPr sz="1200"/>
          </a:p>
        </p:txBody>
      </p:sp>
      <p:graphicFrame>
        <p:nvGraphicFramePr>
          <p:cNvPr id="116" name="Google Shape;116;p20"/>
          <p:cNvGraphicFramePr/>
          <p:nvPr/>
        </p:nvGraphicFramePr>
        <p:xfrm>
          <a:off x="414750" y="1119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{5E9B6CA4-9C01-4D26-BC94-7E39F64D36A0}</a:tableStyleId>
              </a:tblPr>
              <a:tblGrid>
                <a:gridCol w="382850"/>
                <a:gridCol w="836725"/>
                <a:gridCol w="3435000"/>
                <a:gridCol w="725350"/>
                <a:gridCol w="836375"/>
                <a:gridCol w="910350"/>
                <a:gridCol w="1187775"/>
              </a:tblGrid>
              <a:tr h="7146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No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Tanggal Pelaksanaan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Kegiatan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Capaian </a:t>
                      </a:r>
                      <a:r>
                        <a:rPr lang="id" sz="800">
                          <a:solidFill>
                            <a:schemeClr val="dk1"/>
                          </a:solidFill>
                        </a:rPr>
                        <a:t>(%) </a:t>
                      </a:r>
                      <a:endParaRPr sz="800"/>
                    </a:p>
                  </a:txBody>
                  <a:tcPr marT="91425" marB="91425" marR="91425" marL="91425" anchor="ctr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Waktu Pelaksanaan (Menit)</a:t>
                      </a:r>
                      <a:endParaRPr sz="8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Berkas</a:t>
                      </a:r>
                      <a:endParaRPr sz="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Validasi Dosen</a:t>
                      </a:r>
                      <a:endParaRPr sz="800"/>
                    </a:p>
                  </a:txBody>
                  <a:tcPr marT="91425" marB="91425" marR="91425" marL="91425" anchor="ctr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4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16-04-2026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Menjalankan Structured Pruning pada rasio 30% dan membandingkan hasil awal dengan baseline.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60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210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Log Pruned_30P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17-04-2026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>
                          <a:solidFill>
                            <a:schemeClr val="dk1"/>
                          </a:solidFill>
                        </a:rPr>
                        <a:t>Menyusun tabel awal hasil pengujian efisiensi komputasi dan melengkapi BAB 3.5–3.7.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65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180</a:t>
                      </a:r>
                      <a:endParaRPr sz="800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id" sz="800"/>
                        <a:t>BAB 3 final mingguan, tabel awal BAB 4</a:t>
                      </a:r>
                      <a:endParaRPr sz="8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